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7" d="100"/>
          <a:sy n="47" d="100"/>
        </p:scale>
        <p:origin x="-456" y="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3300" y="416696"/>
            <a:ext cx="5372100" cy="9378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65344" y="3429864"/>
            <a:ext cx="7525384" cy="47478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2110"/>
            <a:ext cx="18287999" cy="1023488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46981" y="728275"/>
            <a:ext cx="69945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b="0" spc="235" dirty="0">
                <a:solidFill>
                  <a:srgbClr val="D168E6"/>
                </a:solidFill>
                <a:latin typeface="Trebuchet MS"/>
                <a:cs typeface="Trebuchet MS"/>
              </a:rPr>
              <a:t>HACKSPRINT</a:t>
            </a:r>
            <a:r>
              <a:rPr sz="7200" b="0" spc="-475" dirty="0">
                <a:solidFill>
                  <a:srgbClr val="D168E6"/>
                </a:solidFill>
                <a:latin typeface="Trebuchet MS"/>
                <a:cs typeface="Trebuchet MS"/>
              </a:rPr>
              <a:t> </a:t>
            </a:r>
            <a:r>
              <a:rPr sz="7200" b="0" spc="-95" dirty="0">
                <a:solidFill>
                  <a:srgbClr val="D168E6"/>
                </a:solidFill>
                <a:latin typeface="Trebuchet MS"/>
                <a:cs typeface="Trebuchet MS"/>
              </a:rPr>
              <a:t>2.O</a:t>
            </a:r>
            <a:endParaRPr sz="72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24500" y="661011"/>
            <a:ext cx="16435069" cy="1189355"/>
            <a:chOff x="824500" y="661011"/>
            <a:chExt cx="16435069" cy="118935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32318" y="661011"/>
              <a:ext cx="1326981" cy="118902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4500" y="707450"/>
              <a:ext cx="3434590" cy="109614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016000" y="3060122"/>
            <a:ext cx="6902450" cy="3629198"/>
          </a:xfrm>
          <a:prstGeom prst="rect">
            <a:avLst/>
          </a:prstGeom>
        </p:spPr>
        <p:txBody>
          <a:bodyPr vert="horz" wrap="square" lIns="0" tIns="2590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39"/>
              </a:spcBef>
            </a:pPr>
            <a:r>
              <a:rPr sz="4200" b="1" spc="-55" dirty="0">
                <a:solidFill>
                  <a:srgbClr val="FFFFFF"/>
                </a:solidFill>
                <a:latin typeface="Calibri"/>
                <a:cs typeface="Calibri"/>
              </a:rPr>
              <a:t>Team</a:t>
            </a:r>
            <a:r>
              <a:rPr sz="4200" b="1" spc="-1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00" b="1" spc="-10" dirty="0">
                <a:solidFill>
                  <a:srgbClr val="FFFFFF"/>
                </a:solidFill>
                <a:latin typeface="Calibri"/>
                <a:cs typeface="Calibri"/>
              </a:rPr>
              <a:t>Name</a:t>
            </a:r>
            <a:r>
              <a:rPr sz="42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lang="en-IN" sz="42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lang="en-IN" sz="4200" b="1" spc="-10" dirty="0" err="1" smtClean="0">
                <a:solidFill>
                  <a:srgbClr val="FFFFFF"/>
                </a:solidFill>
                <a:latin typeface="Calibri"/>
                <a:cs typeface="Calibri"/>
              </a:rPr>
              <a:t>VisionX</a:t>
            </a:r>
            <a:endParaRPr sz="4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sz="4200" b="1" spc="-10" dirty="0">
                <a:solidFill>
                  <a:srgbClr val="FFFFFF"/>
                </a:solidFill>
                <a:latin typeface="Calibri"/>
                <a:cs typeface="Calibri"/>
              </a:rPr>
              <a:t>Domain</a:t>
            </a:r>
            <a:r>
              <a:rPr sz="42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lang="en-IN" sz="42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lang="en-IN" sz="4200" b="1" spc="-10" dirty="0" err="1" smtClean="0">
                <a:solidFill>
                  <a:srgbClr val="FFFFFF"/>
                </a:solidFill>
                <a:latin typeface="Calibri"/>
                <a:cs typeface="Calibri"/>
              </a:rPr>
              <a:t>EduTech</a:t>
            </a:r>
            <a:endParaRPr sz="4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4200" b="1" dirty="0">
                <a:solidFill>
                  <a:srgbClr val="FFFFFF"/>
                </a:solidFill>
                <a:latin typeface="Calibri"/>
                <a:cs typeface="Calibri"/>
              </a:rPr>
              <a:t>Category:</a:t>
            </a:r>
            <a:r>
              <a:rPr sz="4200" b="1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IN" sz="4200" b="1" spc="-120" dirty="0" smtClean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00" b="1" dirty="0" smtClean="0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r>
              <a:rPr sz="4200" b="1" spc="-120" dirty="0" smtClean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endParaRPr sz="4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10"/>
              </a:spcBef>
            </a:pPr>
            <a:r>
              <a:rPr sz="4200" b="1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sz="4200" b="1" spc="-1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200" b="1" spc="-10" dirty="0">
                <a:solidFill>
                  <a:srgbClr val="FFFFFF"/>
                </a:solidFill>
                <a:latin typeface="Calibri"/>
                <a:cs typeface="Calibri"/>
              </a:rPr>
              <a:t>Title</a:t>
            </a:r>
            <a:r>
              <a:rPr sz="42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lang="en-IN" sz="4200" b="1" spc="-10" dirty="0" smtClean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lang="en-IN" sz="4200" b="1" spc="-10" dirty="0" err="1" smtClean="0">
                <a:solidFill>
                  <a:srgbClr val="FFFFFF"/>
                </a:solidFill>
                <a:latin typeface="Calibri"/>
                <a:cs typeface="Calibri"/>
              </a:rPr>
              <a:t>SmartEdu</a:t>
            </a:r>
            <a:endParaRPr sz="42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4549" y="1496529"/>
            <a:ext cx="16918940" cy="67310"/>
            <a:chOff x="684549" y="1496529"/>
            <a:chExt cx="16918940" cy="67310"/>
          </a:xfrm>
        </p:grpSpPr>
        <p:sp>
          <p:nvSpPr>
            <p:cNvPr id="3" name="object 3"/>
            <p:cNvSpPr/>
            <p:nvPr/>
          </p:nvSpPr>
          <p:spPr>
            <a:xfrm>
              <a:off x="690899" y="1502879"/>
              <a:ext cx="16906240" cy="54610"/>
            </a:xfrm>
            <a:custGeom>
              <a:avLst/>
              <a:gdLst/>
              <a:ahLst/>
              <a:cxnLst/>
              <a:rect l="l" t="t" r="r" b="b"/>
              <a:pathLst>
                <a:path w="16906240" h="54609">
                  <a:moveTo>
                    <a:pt x="16906209" y="54006"/>
                  </a:moveTo>
                  <a:lnTo>
                    <a:pt x="0" y="54006"/>
                  </a:lnTo>
                  <a:lnTo>
                    <a:pt x="0" y="0"/>
                  </a:lnTo>
                  <a:lnTo>
                    <a:pt x="16906209" y="0"/>
                  </a:lnTo>
                  <a:lnTo>
                    <a:pt x="16906209" y="54006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0899" y="1502879"/>
              <a:ext cx="16906240" cy="54610"/>
            </a:xfrm>
            <a:custGeom>
              <a:avLst/>
              <a:gdLst/>
              <a:ahLst/>
              <a:cxnLst/>
              <a:rect l="l" t="t" r="r" b="b"/>
              <a:pathLst>
                <a:path w="16906240" h="54609">
                  <a:moveTo>
                    <a:pt x="0" y="0"/>
                  </a:moveTo>
                  <a:lnTo>
                    <a:pt x="16906209" y="0"/>
                  </a:lnTo>
                  <a:lnTo>
                    <a:pt x="16906209" y="54006"/>
                  </a:lnTo>
                  <a:lnTo>
                    <a:pt x="0" y="5400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01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Challenge</a:t>
            </a:r>
            <a:r>
              <a:rPr spc="-90" dirty="0"/>
              <a:t> </a:t>
            </a:r>
            <a:r>
              <a:rPr spc="-20" dirty="0"/>
              <a:t>Statement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29555" y="0"/>
            <a:ext cx="458444" cy="102869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21406" y="230320"/>
            <a:ext cx="1297162" cy="116912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66800" y="2171700"/>
            <a:ext cx="15628588" cy="7081426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Current System Limitations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Existing e-learning platforms lack AI-driven personalization, adaptive analytics, and operate through fragmented tools for learning, testing, and guidance.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User Pain Points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Students face difficulty identifying weaknesses, experience delayed doubt resolution, and lack personalized guidance, leading to inefficient preparation and low confidence.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Technical Challenges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The system lacks automated evaluation, real-time analytics, predictive admission insights, and advanced technologies like Generative AI, ML, AR, and voice interfaces.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Operational Challenges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Manual performance tracking, disconnected course management, and poor scalability reduce efficiency and system integration for instructors and institutions.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Why This Problem Matters Now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Rising competition and learner expectations demand scalable, intelligent, data-driven, and real-time AI-powered education solutions.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01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40" dirty="0"/>
              <a:t> </a:t>
            </a:r>
            <a:r>
              <a:rPr spc="-10" dirty="0"/>
              <a:t>Solution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84549" y="1496529"/>
            <a:ext cx="16918940" cy="67310"/>
            <a:chOff x="684549" y="1496529"/>
            <a:chExt cx="16918940" cy="67310"/>
          </a:xfrm>
        </p:grpSpPr>
        <p:sp>
          <p:nvSpPr>
            <p:cNvPr id="4" name="object 4"/>
            <p:cNvSpPr/>
            <p:nvPr/>
          </p:nvSpPr>
          <p:spPr>
            <a:xfrm>
              <a:off x="690899" y="1502879"/>
              <a:ext cx="16906240" cy="54610"/>
            </a:xfrm>
            <a:custGeom>
              <a:avLst/>
              <a:gdLst/>
              <a:ahLst/>
              <a:cxnLst/>
              <a:rect l="l" t="t" r="r" b="b"/>
              <a:pathLst>
                <a:path w="16906240" h="54609">
                  <a:moveTo>
                    <a:pt x="16906209" y="54006"/>
                  </a:moveTo>
                  <a:lnTo>
                    <a:pt x="0" y="54006"/>
                  </a:lnTo>
                  <a:lnTo>
                    <a:pt x="0" y="0"/>
                  </a:lnTo>
                  <a:lnTo>
                    <a:pt x="16906209" y="0"/>
                  </a:lnTo>
                  <a:lnTo>
                    <a:pt x="16906209" y="54006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0899" y="1502879"/>
              <a:ext cx="16906240" cy="54610"/>
            </a:xfrm>
            <a:custGeom>
              <a:avLst/>
              <a:gdLst/>
              <a:ahLst/>
              <a:cxnLst/>
              <a:rect l="l" t="t" r="r" b="b"/>
              <a:pathLst>
                <a:path w="16906240" h="54609">
                  <a:moveTo>
                    <a:pt x="0" y="0"/>
                  </a:moveTo>
                  <a:lnTo>
                    <a:pt x="16906209" y="0"/>
                  </a:lnTo>
                  <a:lnTo>
                    <a:pt x="16906209" y="54006"/>
                  </a:lnTo>
                  <a:lnTo>
                    <a:pt x="0" y="5400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29555" y="0"/>
            <a:ext cx="458444" cy="102869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21406" y="230320"/>
            <a:ext cx="1297162" cy="116912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14400" y="2400300"/>
            <a:ext cx="15830756" cy="597343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Core Idea / Concept</a:t>
            </a:r>
          </a:p>
          <a:p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SmartEdu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System v1.0 is a unified AI-powered education platform that integrates learning, assessment, analytics, mentorship, and predictive guidance to deliver personalized, adaptive, and outcome-driven exam preparation.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Key Features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The platform offers AI-driven personalized learning paths, automated CBT and OMR evaluation, advanced analytics with adaptive study plans, real-time doubt resolution, AI-based college prediction, and immersive AR, voice navigation, and secure payment features.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How It Addresses the Challenges</a:t>
            </a:r>
          </a:p>
          <a:p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SmartEdu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replaces generic preparation with adaptive AI roadmaps, automates evaluation and analytics, provides real-time feedback, and centralizes all learning, testing, and communication within a single intelligent system.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Why This Solution Is Better Than Existing Ones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Unlike traditional platforms,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SmartEdu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delivers true AI personalization, faster feedback, integrated college guidance, higher engagement, and a scalable, future-ready digital learning ecosystem.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01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Technical</a:t>
            </a:r>
            <a:r>
              <a:rPr spc="-215" dirty="0"/>
              <a:t> </a:t>
            </a:r>
            <a:r>
              <a:rPr spc="-10" dirty="0"/>
              <a:t>Description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84549" y="1496529"/>
            <a:ext cx="16918940" cy="67310"/>
            <a:chOff x="684549" y="1496529"/>
            <a:chExt cx="16918940" cy="67310"/>
          </a:xfrm>
        </p:grpSpPr>
        <p:sp>
          <p:nvSpPr>
            <p:cNvPr id="4" name="object 4"/>
            <p:cNvSpPr/>
            <p:nvPr/>
          </p:nvSpPr>
          <p:spPr>
            <a:xfrm>
              <a:off x="690899" y="1502879"/>
              <a:ext cx="16906240" cy="54610"/>
            </a:xfrm>
            <a:custGeom>
              <a:avLst/>
              <a:gdLst/>
              <a:ahLst/>
              <a:cxnLst/>
              <a:rect l="l" t="t" r="r" b="b"/>
              <a:pathLst>
                <a:path w="16906240" h="54609">
                  <a:moveTo>
                    <a:pt x="16906209" y="54006"/>
                  </a:moveTo>
                  <a:lnTo>
                    <a:pt x="0" y="54006"/>
                  </a:lnTo>
                  <a:lnTo>
                    <a:pt x="0" y="0"/>
                  </a:lnTo>
                  <a:lnTo>
                    <a:pt x="16906209" y="0"/>
                  </a:lnTo>
                  <a:lnTo>
                    <a:pt x="16906209" y="54006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0899" y="1502879"/>
              <a:ext cx="16906240" cy="54610"/>
            </a:xfrm>
            <a:custGeom>
              <a:avLst/>
              <a:gdLst/>
              <a:ahLst/>
              <a:cxnLst/>
              <a:rect l="l" t="t" r="r" b="b"/>
              <a:pathLst>
                <a:path w="16906240" h="54609">
                  <a:moveTo>
                    <a:pt x="0" y="0"/>
                  </a:moveTo>
                  <a:lnTo>
                    <a:pt x="16906209" y="0"/>
                  </a:lnTo>
                  <a:lnTo>
                    <a:pt x="16906209" y="54006"/>
                  </a:lnTo>
                  <a:lnTo>
                    <a:pt x="0" y="5400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29555" y="0"/>
            <a:ext cx="458444" cy="102869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21406" y="230320"/>
            <a:ext cx="1297162" cy="1169128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47900"/>
            <a:ext cx="4468813" cy="746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9846" y="2247901"/>
            <a:ext cx="11618721" cy="4267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9847" y="6591300"/>
            <a:ext cx="5701553" cy="326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2485" y="6591299"/>
            <a:ext cx="5613915" cy="326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017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Impact</a:t>
            </a:r>
            <a:r>
              <a:rPr spc="-3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spc="-10" dirty="0"/>
              <a:t>Benefits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84549" y="1496529"/>
            <a:ext cx="16918940" cy="67310"/>
            <a:chOff x="684549" y="1496529"/>
            <a:chExt cx="16918940" cy="67310"/>
          </a:xfrm>
        </p:grpSpPr>
        <p:sp>
          <p:nvSpPr>
            <p:cNvPr id="4" name="object 4"/>
            <p:cNvSpPr/>
            <p:nvPr/>
          </p:nvSpPr>
          <p:spPr>
            <a:xfrm>
              <a:off x="690899" y="1502879"/>
              <a:ext cx="16906240" cy="54610"/>
            </a:xfrm>
            <a:custGeom>
              <a:avLst/>
              <a:gdLst/>
              <a:ahLst/>
              <a:cxnLst/>
              <a:rect l="l" t="t" r="r" b="b"/>
              <a:pathLst>
                <a:path w="16906240" h="54609">
                  <a:moveTo>
                    <a:pt x="16906209" y="54006"/>
                  </a:moveTo>
                  <a:lnTo>
                    <a:pt x="0" y="54006"/>
                  </a:lnTo>
                  <a:lnTo>
                    <a:pt x="0" y="0"/>
                  </a:lnTo>
                  <a:lnTo>
                    <a:pt x="16906209" y="0"/>
                  </a:lnTo>
                  <a:lnTo>
                    <a:pt x="16906209" y="54006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0899" y="1502879"/>
              <a:ext cx="16906240" cy="54610"/>
            </a:xfrm>
            <a:custGeom>
              <a:avLst/>
              <a:gdLst/>
              <a:ahLst/>
              <a:cxnLst/>
              <a:rect l="l" t="t" r="r" b="b"/>
              <a:pathLst>
                <a:path w="16906240" h="54609">
                  <a:moveTo>
                    <a:pt x="0" y="0"/>
                  </a:moveTo>
                  <a:lnTo>
                    <a:pt x="16906209" y="0"/>
                  </a:lnTo>
                  <a:lnTo>
                    <a:pt x="16906209" y="54006"/>
                  </a:lnTo>
                  <a:lnTo>
                    <a:pt x="0" y="5400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29555" y="0"/>
            <a:ext cx="458444" cy="102869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21406" y="230320"/>
            <a:ext cx="1297162" cy="116912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11624" y="2324100"/>
            <a:ext cx="15553055" cy="7081426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1. Expected Impact on Users &amp; Industry</a:t>
            </a:r>
          </a:p>
          <a:p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SmartEdu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System v1.0 transforms competitive exam preparation by enabling AI-driven personalization, improving student performance and confidence, and promoting a data-driven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EdTech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ecosystem.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2. Key Benefits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The platform delivers instant evaluations, high assessment accuracy, cost-effective operations, simplified all-in-one learning management, and inclusive accessibility through voice and AR-enabled interfaces.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3. Short-Term Value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Students quickly identify strengths and weaknesses, receive faster doubt resolution, and follow personalized study plans for efficient and focused exam preparation.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4. Long-Term Value</a:t>
            </a:r>
          </a:p>
          <a:p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SmartEdu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improves exam ranks and admission success while continuously optimizing learning outcomes through scalable, AI-powered insights adaptable to future educational needs.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b="1" dirty="0" smtClean="0">
                <a:latin typeface="Arial" pitchFamily="34" charset="0"/>
                <a:cs typeface="Arial" pitchFamily="34" charset="0"/>
              </a:rPr>
              <a:t>5. Measurable Improvements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The system reduces evaluation time from hours to seconds, enhances accuracy and time management, and significantly increases student engagement and course completion rates.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92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Feasibility</a:t>
            </a:r>
            <a:r>
              <a:rPr spc="-85" dirty="0"/>
              <a:t> </a:t>
            </a:r>
            <a:r>
              <a:rPr dirty="0"/>
              <a:t>&amp;</a:t>
            </a:r>
            <a:r>
              <a:rPr spc="-80" dirty="0"/>
              <a:t> </a:t>
            </a:r>
            <a:r>
              <a:rPr spc="-10" dirty="0"/>
              <a:t>Viability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84549" y="1496529"/>
            <a:ext cx="16918940" cy="67310"/>
            <a:chOff x="684549" y="1496529"/>
            <a:chExt cx="16918940" cy="67310"/>
          </a:xfrm>
        </p:grpSpPr>
        <p:sp>
          <p:nvSpPr>
            <p:cNvPr id="4" name="object 4"/>
            <p:cNvSpPr/>
            <p:nvPr/>
          </p:nvSpPr>
          <p:spPr>
            <a:xfrm>
              <a:off x="690899" y="1502879"/>
              <a:ext cx="16906240" cy="54610"/>
            </a:xfrm>
            <a:custGeom>
              <a:avLst/>
              <a:gdLst/>
              <a:ahLst/>
              <a:cxnLst/>
              <a:rect l="l" t="t" r="r" b="b"/>
              <a:pathLst>
                <a:path w="16906240" h="54609">
                  <a:moveTo>
                    <a:pt x="16906209" y="54006"/>
                  </a:moveTo>
                  <a:lnTo>
                    <a:pt x="0" y="54006"/>
                  </a:lnTo>
                  <a:lnTo>
                    <a:pt x="0" y="0"/>
                  </a:lnTo>
                  <a:lnTo>
                    <a:pt x="16906209" y="0"/>
                  </a:lnTo>
                  <a:lnTo>
                    <a:pt x="16906209" y="54006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0899" y="1502879"/>
              <a:ext cx="16906240" cy="54610"/>
            </a:xfrm>
            <a:custGeom>
              <a:avLst/>
              <a:gdLst/>
              <a:ahLst/>
              <a:cxnLst/>
              <a:rect l="l" t="t" r="r" b="b"/>
              <a:pathLst>
                <a:path w="16906240" h="54609">
                  <a:moveTo>
                    <a:pt x="0" y="0"/>
                  </a:moveTo>
                  <a:lnTo>
                    <a:pt x="16906209" y="0"/>
                  </a:lnTo>
                  <a:lnTo>
                    <a:pt x="16906209" y="54006"/>
                  </a:lnTo>
                  <a:lnTo>
                    <a:pt x="0" y="5400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29555" y="0"/>
            <a:ext cx="458444" cy="102869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21406" y="230320"/>
            <a:ext cx="1297162" cy="116912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26459" y="2247900"/>
            <a:ext cx="15552388" cy="3388107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Technical Feasibility</a:t>
            </a:r>
          </a:p>
          <a:p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SmartEdu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System v1.0 is technically feasible using proven web technologies, cloud infrastructure, AI/ML models, Generative AI, secure APIs, and a modular architecture that ensures reliable implementation, integration, and maintenance.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Scalability &amp; Future Enhancement Scope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The cloud-native and modular design of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SmartEdu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enables seamless scaling, easy onboarding of new exams and institutions, and future enhancements such as AI tutors, multilingual support, adaptive testing, mobile integration, and immersive AR/VR learning.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829300"/>
            <a:ext cx="6019800" cy="4310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1" y="5829300"/>
            <a:ext cx="4952999" cy="4152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4063" y="5829300"/>
            <a:ext cx="5553075" cy="4152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Competitor</a:t>
            </a:r>
            <a:r>
              <a:rPr spc="-170" dirty="0"/>
              <a:t> </a:t>
            </a:r>
            <a:r>
              <a:rPr spc="-10" dirty="0"/>
              <a:t>Analysis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84549" y="1496529"/>
            <a:ext cx="16918940" cy="67310"/>
            <a:chOff x="684549" y="1496529"/>
            <a:chExt cx="16918940" cy="67310"/>
          </a:xfrm>
        </p:grpSpPr>
        <p:sp>
          <p:nvSpPr>
            <p:cNvPr id="4" name="object 4"/>
            <p:cNvSpPr/>
            <p:nvPr/>
          </p:nvSpPr>
          <p:spPr>
            <a:xfrm>
              <a:off x="690899" y="1502879"/>
              <a:ext cx="16906240" cy="54610"/>
            </a:xfrm>
            <a:custGeom>
              <a:avLst/>
              <a:gdLst/>
              <a:ahLst/>
              <a:cxnLst/>
              <a:rect l="l" t="t" r="r" b="b"/>
              <a:pathLst>
                <a:path w="16906240" h="54609">
                  <a:moveTo>
                    <a:pt x="16906209" y="54006"/>
                  </a:moveTo>
                  <a:lnTo>
                    <a:pt x="0" y="54006"/>
                  </a:lnTo>
                  <a:lnTo>
                    <a:pt x="0" y="0"/>
                  </a:lnTo>
                  <a:lnTo>
                    <a:pt x="16906209" y="0"/>
                  </a:lnTo>
                  <a:lnTo>
                    <a:pt x="16906209" y="54006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0899" y="1502879"/>
              <a:ext cx="16906240" cy="54610"/>
            </a:xfrm>
            <a:custGeom>
              <a:avLst/>
              <a:gdLst/>
              <a:ahLst/>
              <a:cxnLst/>
              <a:rect l="l" t="t" r="r" b="b"/>
              <a:pathLst>
                <a:path w="16906240" h="54609">
                  <a:moveTo>
                    <a:pt x="0" y="0"/>
                  </a:moveTo>
                  <a:lnTo>
                    <a:pt x="16906209" y="0"/>
                  </a:lnTo>
                  <a:lnTo>
                    <a:pt x="16906209" y="54006"/>
                  </a:lnTo>
                  <a:lnTo>
                    <a:pt x="0" y="5400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29555" y="0"/>
            <a:ext cx="458444" cy="102869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21406" y="230320"/>
            <a:ext cx="1297162" cy="116912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07610" y="2476500"/>
            <a:ext cx="14691360" cy="44448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Direct Competitors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Platforms like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Unacademy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Physics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Wallah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BYJU’S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offer strong content and live classes but lack deep AI personalization, adaptive analytics, real-time mentoring, and college prediction capabilities.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Indirect Competitors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Tools such as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Udemy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Coursera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Google Classroom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address only partial needs like content delivery or assignment management without intelligent assessment, personalization, or exam-focused analytics.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Competitive Advantage of </a:t>
            </a:r>
            <a:r>
              <a:rPr lang="en-US" sz="2400" b="1" dirty="0" err="1" smtClean="0">
                <a:latin typeface="Arial" pitchFamily="34" charset="0"/>
                <a:cs typeface="Arial" pitchFamily="34" charset="0"/>
              </a:rPr>
              <a:t>SmartEdu</a:t>
            </a:r>
            <a:endParaRPr lang="en-US" sz="24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SmartEdu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uniquely integrates AI-driven personalized learning, automated testing and analytics, real-time mentoring, and college prediction into a single unified platform—capabilities not offered together by existing competitors.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610" y="6905619"/>
            <a:ext cx="4565650" cy="3238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6921307"/>
            <a:ext cx="5241925" cy="3222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2443" y="6905619"/>
            <a:ext cx="5736125" cy="3095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Cost</a:t>
            </a:r>
            <a:r>
              <a:rPr spc="-75" dirty="0"/>
              <a:t> </a:t>
            </a:r>
            <a:r>
              <a:rPr spc="-20" dirty="0"/>
              <a:t>Estimate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84549" y="1496529"/>
            <a:ext cx="16918940" cy="67310"/>
            <a:chOff x="684549" y="1496529"/>
            <a:chExt cx="16918940" cy="67310"/>
          </a:xfrm>
        </p:grpSpPr>
        <p:sp>
          <p:nvSpPr>
            <p:cNvPr id="4" name="object 4"/>
            <p:cNvSpPr/>
            <p:nvPr/>
          </p:nvSpPr>
          <p:spPr>
            <a:xfrm>
              <a:off x="690899" y="1502879"/>
              <a:ext cx="16906240" cy="54610"/>
            </a:xfrm>
            <a:custGeom>
              <a:avLst/>
              <a:gdLst/>
              <a:ahLst/>
              <a:cxnLst/>
              <a:rect l="l" t="t" r="r" b="b"/>
              <a:pathLst>
                <a:path w="16906240" h="54609">
                  <a:moveTo>
                    <a:pt x="16906209" y="54006"/>
                  </a:moveTo>
                  <a:lnTo>
                    <a:pt x="0" y="54006"/>
                  </a:lnTo>
                  <a:lnTo>
                    <a:pt x="0" y="0"/>
                  </a:lnTo>
                  <a:lnTo>
                    <a:pt x="16906209" y="0"/>
                  </a:lnTo>
                  <a:lnTo>
                    <a:pt x="16906209" y="54006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0899" y="1502879"/>
              <a:ext cx="16906240" cy="54610"/>
            </a:xfrm>
            <a:custGeom>
              <a:avLst/>
              <a:gdLst/>
              <a:ahLst/>
              <a:cxnLst/>
              <a:rect l="l" t="t" r="r" b="b"/>
              <a:pathLst>
                <a:path w="16906240" h="54609">
                  <a:moveTo>
                    <a:pt x="0" y="0"/>
                  </a:moveTo>
                  <a:lnTo>
                    <a:pt x="16906209" y="0"/>
                  </a:lnTo>
                  <a:lnTo>
                    <a:pt x="16906209" y="54006"/>
                  </a:lnTo>
                  <a:lnTo>
                    <a:pt x="0" y="54006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29555" y="0"/>
            <a:ext cx="458444" cy="102869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21406" y="230320"/>
            <a:ext cx="1297162" cy="116912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87812" y="1868329"/>
            <a:ext cx="15941040" cy="73994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Development Costs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Product development—including frontend/backend systems, AI/ML models for OMR and personalization, and AR/voice integrations—is estimated at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₹8–11 Lakhs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Infrastructure &amp; Cloud Costs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Cloud hosting, AI model APIs, storage, and scalability setup will require approximately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₹2.5–4.5 Lakhs per year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Security &amp; Payment Integration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Secure authentication, data protection, and payment gateway integration (e.g.,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Stripe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) will cost around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₹1–1.5 Lakhs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Testing &amp; Deployment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Comprehensive QA, performance testing, CI/CD pipeline setup, and deployment will require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₹1–1.5 Lakhs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Operations &amp; Maintenance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Ongoing platform maintenance, updates, monitoring, and technical support are estimated at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₹1.5–2.5 Lakhs per year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Total Estimated Cost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The total cost to convert the prototype into a production-ready </a:t>
            </a:r>
            <a:r>
              <a:rPr lang="en-US" sz="2400" dirty="0" err="1" smtClean="0">
                <a:latin typeface="Arial" pitchFamily="34" charset="0"/>
                <a:cs typeface="Arial" pitchFamily="34" charset="0"/>
              </a:rPr>
              <a:t>SmartEdu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System v1.0 is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₹10–14 Lakhs initially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, with </a:t>
            </a: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₹3–5 Lakhs annually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for operations and scaling.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28700" y="1028700"/>
              <a:ext cx="16230600" cy="8433435"/>
            </a:xfrm>
            <a:custGeom>
              <a:avLst/>
              <a:gdLst/>
              <a:ahLst/>
              <a:cxnLst/>
              <a:rect l="l" t="t" r="r" b="b"/>
              <a:pathLst>
                <a:path w="16230600" h="8433435">
                  <a:moveTo>
                    <a:pt x="16207977" y="8432902"/>
                  </a:moveTo>
                  <a:lnTo>
                    <a:pt x="22621" y="8432902"/>
                  </a:lnTo>
                  <a:lnTo>
                    <a:pt x="14792" y="8429659"/>
                  </a:lnTo>
                  <a:lnTo>
                    <a:pt x="3242" y="8418109"/>
                  </a:lnTo>
                  <a:lnTo>
                    <a:pt x="0" y="8410280"/>
                  </a:lnTo>
                  <a:lnTo>
                    <a:pt x="0" y="22621"/>
                  </a:lnTo>
                  <a:lnTo>
                    <a:pt x="3242" y="14792"/>
                  </a:lnTo>
                  <a:lnTo>
                    <a:pt x="14792" y="3242"/>
                  </a:lnTo>
                  <a:lnTo>
                    <a:pt x="22621" y="0"/>
                  </a:lnTo>
                  <a:lnTo>
                    <a:pt x="30788" y="0"/>
                  </a:lnTo>
                  <a:lnTo>
                    <a:pt x="16207977" y="0"/>
                  </a:lnTo>
                  <a:lnTo>
                    <a:pt x="16215807" y="3242"/>
                  </a:lnTo>
                  <a:lnTo>
                    <a:pt x="16227357" y="14792"/>
                  </a:lnTo>
                  <a:lnTo>
                    <a:pt x="16230599" y="22621"/>
                  </a:lnTo>
                  <a:lnTo>
                    <a:pt x="16230599" y="8410280"/>
                  </a:lnTo>
                  <a:lnTo>
                    <a:pt x="16227357" y="8418109"/>
                  </a:lnTo>
                  <a:lnTo>
                    <a:pt x="16215807" y="8429659"/>
                  </a:lnTo>
                  <a:lnTo>
                    <a:pt x="16207977" y="8432902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pPr algn="ctr"/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763625" y="1749510"/>
            <a:ext cx="643699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5200" spc="-385" dirty="0">
                <a:latin typeface="Trebuchet MS"/>
                <a:cs typeface="Trebuchet MS"/>
              </a:rPr>
              <a:t>T</a:t>
            </a:r>
            <a:r>
              <a:rPr sz="5200" spc="125" dirty="0">
                <a:latin typeface="Trebuchet MS"/>
                <a:cs typeface="Trebuchet MS"/>
              </a:rPr>
              <a:t>eam</a:t>
            </a:r>
            <a:r>
              <a:rPr sz="5200" spc="-250" dirty="0">
                <a:latin typeface="Trebuchet MS"/>
                <a:cs typeface="Trebuchet MS"/>
              </a:rPr>
              <a:t> </a:t>
            </a:r>
            <a:r>
              <a:rPr sz="5200" spc="90" dirty="0">
                <a:latin typeface="Trebuchet MS"/>
                <a:cs typeface="Trebuchet MS"/>
              </a:rPr>
              <a:t>Name:</a:t>
            </a:r>
            <a:r>
              <a:rPr sz="5200" spc="-440" dirty="0">
                <a:latin typeface="Trebuchet MS"/>
                <a:cs typeface="Trebuchet MS"/>
              </a:rPr>
              <a:t> </a:t>
            </a:r>
            <a:r>
              <a:rPr sz="5200" spc="75" dirty="0">
                <a:latin typeface="Trebuchet MS"/>
                <a:cs typeface="Trebuchet MS"/>
              </a:rPr>
              <a:t>VisionX</a:t>
            </a:r>
            <a:endParaRPr sz="52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27229" y="3454393"/>
            <a:ext cx="165544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200" spc="-55" dirty="0">
                <a:latin typeface="Arial"/>
                <a:cs typeface="Arial"/>
              </a:rPr>
              <a:t>Team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Leader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04556" y="3452751"/>
            <a:ext cx="16402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200" spc="-10" dirty="0" smtClean="0">
                <a:latin typeface="Arial"/>
                <a:cs typeface="Arial"/>
              </a:rPr>
              <a:t>Male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27229" y="4555485"/>
            <a:ext cx="139451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200" spc="-20" dirty="0" smtClean="0">
                <a:latin typeface="Arial"/>
                <a:cs typeface="Arial"/>
              </a:rPr>
              <a:t>AI/ML Developer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04556" y="4564379"/>
            <a:ext cx="16402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200" spc="-10" dirty="0" smtClean="0">
                <a:latin typeface="Arial"/>
                <a:cs typeface="Arial"/>
              </a:rPr>
              <a:t>Male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160370" y="5689259"/>
            <a:ext cx="2128231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200" spc="-20" dirty="0" smtClean="0">
                <a:latin typeface="Arial"/>
                <a:cs typeface="Arial"/>
              </a:rPr>
              <a:t>Product Lead</a:t>
            </a:r>
            <a:endParaRPr lang="en-US" sz="22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967020" y="5672937"/>
            <a:ext cx="16402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200" spc="-10" dirty="0" smtClean="0">
                <a:latin typeface="Arial"/>
                <a:cs typeface="Arial"/>
              </a:rPr>
              <a:t>Male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184405" y="6715303"/>
            <a:ext cx="208016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200" spc="-20" dirty="0" smtClean="0">
                <a:latin typeface="Arial"/>
                <a:cs typeface="Arial"/>
              </a:rPr>
              <a:t>Backend Developer</a:t>
            </a:r>
            <a:endParaRPr lang="en-US" sz="22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967020" y="6781496"/>
            <a:ext cx="16402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2200" spc="-10" dirty="0" smtClean="0">
                <a:latin typeface="Arial"/>
                <a:cs typeface="Arial"/>
              </a:rPr>
              <a:t>Female</a:t>
            </a:r>
            <a:endParaRPr lang="en-IN" sz="2200" dirty="0">
              <a:latin typeface="Arial"/>
              <a:cs typeface="Arial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171037"/>
              </p:ext>
            </p:extLst>
          </p:nvPr>
        </p:nvGraphicFramePr>
        <p:xfrm>
          <a:off x="2503444" y="3429864"/>
          <a:ext cx="7449184" cy="51210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8975"/>
                <a:gridCol w="3940810"/>
                <a:gridCol w="1549399"/>
              </a:tblGrid>
              <a:tr h="711835">
                <a:tc>
                  <a:txBody>
                    <a:bodyPr/>
                    <a:lstStyle/>
                    <a:p>
                      <a:pPr marL="78740">
                        <a:lnSpc>
                          <a:spcPts val="2430"/>
                        </a:lnSpc>
                      </a:pPr>
                      <a:r>
                        <a:rPr lang="en-US" sz="2200" spc="-20" dirty="0" err="1" smtClean="0">
                          <a:latin typeface="Arial"/>
                          <a:cs typeface="Arial"/>
                        </a:rPr>
                        <a:t>Somsubhra</a:t>
                      </a:r>
                      <a:r>
                        <a:rPr lang="en-US" sz="2200" spc="-20" baseline="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200" spc="-20" baseline="0" dirty="0" err="1" smtClean="0">
                          <a:latin typeface="Arial"/>
                          <a:cs typeface="Arial"/>
                        </a:rPr>
                        <a:t>Dalui</a:t>
                      </a:r>
                      <a:endParaRPr sz="22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810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2200" dirty="0" smtClean="0">
                          <a:latin typeface="Arial"/>
                          <a:cs typeface="Arial"/>
                        </a:rPr>
                        <a:t>Heritage</a:t>
                      </a:r>
                      <a:r>
                        <a:rPr lang="en-US" sz="2200" baseline="0" dirty="0" smtClean="0">
                          <a:latin typeface="Arial"/>
                          <a:cs typeface="Arial"/>
                        </a:rPr>
                        <a:t> Institute of Technology</a:t>
                      </a:r>
                      <a:endParaRPr lang="en-US" sz="22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2200" spc="-20" dirty="0" smtClean="0">
                          <a:latin typeface="Arial"/>
                          <a:cs typeface="Arial"/>
                        </a:rPr>
                        <a:t>West</a:t>
                      </a:r>
                      <a:r>
                        <a:rPr lang="en-US" sz="2200" spc="-20" baseline="0" dirty="0" smtClean="0">
                          <a:latin typeface="Arial"/>
                          <a:cs typeface="Arial"/>
                        </a:rPr>
                        <a:t> Bengal</a:t>
                      </a:r>
                      <a:endParaRPr lang="en-US" sz="22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1109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  <a:p>
                      <a:pPr marL="787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2200" spc="-20" dirty="0" err="1" smtClean="0">
                          <a:latin typeface="Arial"/>
                          <a:cs typeface="Arial"/>
                        </a:rPr>
                        <a:t>Prayas</a:t>
                      </a:r>
                      <a:r>
                        <a:rPr lang="en-US" sz="2200" spc="-2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200" spc="-20" dirty="0" err="1" smtClean="0">
                          <a:latin typeface="Arial"/>
                          <a:cs typeface="Arial"/>
                        </a:rPr>
                        <a:t>Mondal</a:t>
                      </a:r>
                      <a:endParaRPr sz="2200" dirty="0">
                        <a:latin typeface="Arial"/>
                        <a:cs typeface="Arial"/>
                      </a:endParaRPr>
                    </a:p>
                  </a:txBody>
                  <a:tcPr marL="0" marR="0" marT="514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  <a:p>
                      <a:pPr marR="9810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2200" dirty="0" smtClean="0">
                          <a:latin typeface="Arial"/>
                          <a:cs typeface="Arial"/>
                        </a:rPr>
                        <a:t>Heritage</a:t>
                      </a:r>
                      <a:r>
                        <a:rPr lang="en-US" sz="2200" baseline="0" dirty="0" smtClean="0">
                          <a:latin typeface="Arial"/>
                          <a:cs typeface="Arial"/>
                        </a:rPr>
                        <a:t> Institute of Technology</a:t>
                      </a:r>
                      <a:endParaRPr sz="2200" dirty="0">
                        <a:latin typeface="Arial"/>
                        <a:cs typeface="Arial"/>
                      </a:endParaRPr>
                    </a:p>
                  </a:txBody>
                  <a:tcPr marL="0" marR="0" marT="514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  <a:p>
                      <a:pPr marR="2413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2200" spc="-20" dirty="0" smtClean="0">
                          <a:latin typeface="Arial"/>
                          <a:cs typeface="Arial"/>
                        </a:rPr>
                        <a:t>West</a:t>
                      </a:r>
                      <a:r>
                        <a:rPr lang="en-US" sz="2200" spc="-20" baseline="0" dirty="0" smtClean="0">
                          <a:latin typeface="Arial"/>
                          <a:cs typeface="Arial"/>
                        </a:rPr>
                        <a:t> Bengal</a:t>
                      </a:r>
                      <a:endParaRPr sz="2200" dirty="0">
                        <a:latin typeface="Arial"/>
                        <a:cs typeface="Arial"/>
                      </a:endParaRPr>
                    </a:p>
                  </a:txBody>
                  <a:tcPr marL="0" marR="0" marT="51435" marB="0"/>
                </a:tc>
              </a:tr>
              <a:tr h="11872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lang="en-US" sz="2200" spc="-20" dirty="0" smtClean="0">
                          <a:latin typeface="Arial"/>
                          <a:cs typeface="Arial"/>
                        </a:rPr>
                        <a:t>MD</a:t>
                      </a:r>
                      <a:r>
                        <a:rPr lang="en-US" sz="2200" spc="-20" baseline="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200" spc="-20" baseline="0" dirty="0" err="1" smtClean="0">
                          <a:latin typeface="Arial"/>
                          <a:cs typeface="Arial"/>
                        </a:rPr>
                        <a:t>Afzal</a:t>
                      </a:r>
                      <a:r>
                        <a:rPr lang="en-US" sz="2200" spc="-20" baseline="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200" spc="-20" baseline="0" dirty="0" err="1" smtClean="0">
                          <a:latin typeface="Arial"/>
                          <a:cs typeface="Arial"/>
                        </a:rPr>
                        <a:t>Alam</a:t>
                      </a:r>
                      <a:endParaRPr sz="2200" dirty="0">
                        <a:latin typeface="Arial"/>
                        <a:cs typeface="Arial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  <a:p>
                      <a:pPr marR="9810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2200" dirty="0" smtClean="0">
                          <a:latin typeface="Arial"/>
                          <a:cs typeface="Arial"/>
                        </a:rPr>
                        <a:t>Heritage</a:t>
                      </a:r>
                      <a:r>
                        <a:rPr lang="en-US" sz="2200" baseline="0" dirty="0" smtClean="0">
                          <a:latin typeface="Arial"/>
                          <a:cs typeface="Arial"/>
                        </a:rPr>
                        <a:t> Institute of Technology</a:t>
                      </a:r>
                      <a:endParaRPr lang="en-US" sz="2200" dirty="0">
                        <a:latin typeface="Arial"/>
                        <a:cs typeface="Arial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  <a:p>
                      <a:pPr marR="2413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2200" spc="-20" dirty="0" smtClean="0">
                          <a:latin typeface="Arial"/>
                          <a:cs typeface="Arial"/>
                        </a:rPr>
                        <a:t>West</a:t>
                      </a:r>
                      <a:r>
                        <a:rPr lang="en-US" sz="2200" spc="-20" baseline="0" dirty="0" smtClean="0">
                          <a:latin typeface="Arial"/>
                          <a:cs typeface="Arial"/>
                        </a:rPr>
                        <a:t> Bengal</a:t>
                      </a:r>
                      <a:endParaRPr lang="en-US" sz="2200" dirty="0">
                        <a:latin typeface="Arial"/>
                        <a:cs typeface="Arial"/>
                      </a:endParaRPr>
                    </a:p>
                  </a:txBody>
                  <a:tcPr marL="0" marR="0" marT="50165" marB="0"/>
                </a:tc>
              </a:tr>
              <a:tr h="990600">
                <a:tc>
                  <a:txBody>
                    <a:bodyPr/>
                    <a:lstStyle/>
                    <a:p>
                      <a:pPr marL="31750">
                        <a:lnSpc>
                          <a:spcPts val="2565"/>
                        </a:lnSpc>
                      </a:pPr>
                      <a:r>
                        <a:rPr lang="en-US" sz="2200" dirty="0" err="1" smtClean="0">
                          <a:latin typeface="Arial"/>
                          <a:cs typeface="Arial"/>
                        </a:rPr>
                        <a:t>Ankita</a:t>
                      </a:r>
                      <a:r>
                        <a:rPr lang="en-US" sz="220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200" dirty="0" err="1" smtClean="0">
                          <a:latin typeface="Arial"/>
                          <a:cs typeface="Arial"/>
                        </a:rPr>
                        <a:t>Nath</a:t>
                      </a:r>
                      <a:endParaRPr sz="2200" dirty="0">
                        <a:latin typeface="Arial"/>
                        <a:cs typeface="Arial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 marL="0" marR="981075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>
                          <a:latin typeface="Arial"/>
                          <a:cs typeface="Arial"/>
                        </a:rPr>
                        <a:t>Heritage</a:t>
                      </a:r>
                      <a:r>
                        <a:rPr lang="en-US" sz="2200" baseline="0" dirty="0" smtClean="0">
                          <a:latin typeface="Arial"/>
                          <a:cs typeface="Arial"/>
                        </a:rPr>
                        <a:t> Institute of Technology</a:t>
                      </a:r>
                      <a:endParaRPr lang="en-US" sz="2200" dirty="0" smtClean="0">
                        <a:latin typeface="Arial"/>
                        <a:cs typeface="Arial"/>
                      </a:endParaRPr>
                    </a:p>
                    <a:p>
                      <a:pPr marR="9810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lang="en-US" sz="2200" dirty="0">
                        <a:latin typeface="Arial"/>
                        <a:cs typeface="Arial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 marL="0" marR="2413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spc="-20" dirty="0" smtClean="0">
                          <a:latin typeface="Arial"/>
                          <a:cs typeface="Arial"/>
                        </a:rPr>
                        <a:t>West</a:t>
                      </a:r>
                      <a:r>
                        <a:rPr lang="en-US" sz="2200" spc="-20" baseline="0" dirty="0" smtClean="0">
                          <a:latin typeface="Arial"/>
                          <a:cs typeface="Arial"/>
                        </a:rPr>
                        <a:t> Bengal</a:t>
                      </a:r>
                      <a:endParaRPr lang="en-US" sz="2200" dirty="0" smtClean="0">
                        <a:latin typeface="Arial"/>
                        <a:cs typeface="Arial"/>
                      </a:endParaRPr>
                    </a:p>
                  </a:txBody>
                  <a:tcPr marL="0" marR="0" marT="50165" marB="0"/>
                </a:tc>
              </a:tr>
              <a:tr h="709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2565"/>
                        </a:lnSpc>
                      </a:pPr>
                      <a:r>
                        <a:rPr lang="en-US" sz="2200" spc="-20" dirty="0" err="1" smtClean="0">
                          <a:latin typeface="Arial"/>
                          <a:cs typeface="Arial"/>
                        </a:rPr>
                        <a:t>Arpita</a:t>
                      </a:r>
                      <a:r>
                        <a:rPr lang="en-US" sz="2200" spc="-20" baseline="0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200" spc="-20" baseline="0" dirty="0" err="1" smtClean="0">
                          <a:latin typeface="Arial"/>
                          <a:cs typeface="Arial"/>
                        </a:rPr>
                        <a:t>Nath</a:t>
                      </a:r>
                      <a:endParaRPr sz="2200" dirty="0">
                        <a:latin typeface="Arial"/>
                        <a:cs typeface="Arial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  <a:p>
                      <a:pPr marR="9810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2200" dirty="0" smtClean="0">
                          <a:latin typeface="Arial"/>
                          <a:cs typeface="Arial"/>
                        </a:rPr>
                        <a:t>Heritage</a:t>
                      </a:r>
                      <a:r>
                        <a:rPr lang="en-US" sz="2200" baseline="0" dirty="0" smtClean="0">
                          <a:latin typeface="Arial"/>
                          <a:cs typeface="Arial"/>
                        </a:rPr>
                        <a:t> Institute of Technology</a:t>
                      </a:r>
                      <a:endParaRPr lang="en-US" sz="2200" dirty="0">
                        <a:latin typeface="Arial"/>
                        <a:cs typeface="Arial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  <a:p>
                      <a:pPr marR="2413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2200" spc="-20" dirty="0" smtClean="0">
                          <a:latin typeface="Arial"/>
                          <a:cs typeface="Arial"/>
                        </a:rPr>
                        <a:t>West</a:t>
                      </a:r>
                      <a:r>
                        <a:rPr lang="en-US" sz="2200" spc="-20" baseline="0" dirty="0" smtClean="0">
                          <a:latin typeface="Arial"/>
                          <a:cs typeface="Arial"/>
                        </a:rPr>
                        <a:t> Bengal</a:t>
                      </a:r>
                      <a:endParaRPr lang="en-US" sz="2200" dirty="0">
                        <a:latin typeface="Arial"/>
                        <a:cs typeface="Arial"/>
                      </a:endParaRPr>
                    </a:p>
                  </a:txBody>
                  <a:tcPr marL="0" marR="0" marT="50165" marB="0"/>
                </a:tc>
              </a:tr>
            </a:tbl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2647" y="7824039"/>
            <a:ext cx="1639887" cy="58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3552" y="7824039"/>
            <a:ext cx="2079625" cy="92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Words>857</Words>
  <Application>Microsoft Office PowerPoint</Application>
  <PresentationFormat>Custom</PresentationFormat>
  <Paragraphs>114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HACKSPRINT 2.O</vt:lpstr>
      <vt:lpstr>Challenge Statement</vt:lpstr>
      <vt:lpstr>Proposed Solution</vt:lpstr>
      <vt:lpstr>Technical Description</vt:lpstr>
      <vt:lpstr>Impact &amp; Benefits</vt:lpstr>
      <vt:lpstr>Feasibility &amp; Viability</vt:lpstr>
      <vt:lpstr>Competitor Analysis</vt:lpstr>
      <vt:lpstr>Cost Estimate</vt:lpstr>
      <vt:lpstr>Team Name: VisionX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Hacksprint 2.0 Template</dc:title>
  <dc:creator>win11</dc:creator>
  <cp:lastModifiedBy>win11</cp:lastModifiedBy>
  <cp:revision>16</cp:revision>
  <dcterms:created xsi:type="dcterms:W3CDTF">2025-12-24T15:46:47Z</dcterms:created>
  <dcterms:modified xsi:type="dcterms:W3CDTF">2025-12-26T17:48:51Z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2025-12-24T00:00:00Z</vt:filetime>
  </property>
  <property fmtid="{D5CDD505-2E9C-101B-9397-08002B2CF9AE}" pid="3" name="Creator">
    <vt:lpwstr>Google</vt:lpwstr>
  </property>
  <property fmtid="{D5CDD505-2E9C-101B-9397-08002B2CF9AE}" pid="4" name="LastSaved">
    <vt:filetime>2025-12-24T00:00:00Z</vt:filetime>
  </property>
</Properties>
</file>